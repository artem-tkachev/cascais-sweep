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2514E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2514E"/>
                </a:solidFill>
                <a:latin typeface="Calibri"/>
              </a:rPr>
              <a:t>Average per day, by hour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Trips per hour (riders)</c:v>
                </c:pt>
              </c:strCache>
            </c:strRef>
          </c:tx>
          <c:spPr>
            <a:solidFill>
              <a:srgbClr val="EB6834"/>
            </a:solidFill>
            <a:ln w="381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24</c:v>
                </c:pt>
                <c:pt idx="1">
                  <c:v>27</c:v>
                </c:pt>
                <c:pt idx="2">
                  <c:v>16</c:v>
                </c:pt>
                <c:pt idx="3">
                  <c:v>10</c:v>
                </c:pt>
                <c:pt idx="4">
                  <c:v>4</c:v>
                </c:pt>
                <c:pt idx="5">
                  <c:v>3</c:v>
                </c:pt>
                <c:pt idx="6">
                  <c:v>4</c:v>
                </c:pt>
                <c:pt idx="7">
                  <c:v>10</c:v>
                </c:pt>
                <c:pt idx="8">
                  <c:v>9</c:v>
                </c:pt>
                <c:pt idx="9">
                  <c:v>14</c:v>
                </c:pt>
                <c:pt idx="10">
                  <c:v>15</c:v>
                </c:pt>
                <c:pt idx="11">
                  <c:v>25</c:v>
                </c:pt>
                <c:pt idx="12">
                  <c:v>34</c:v>
                </c:pt>
                <c:pt idx="13">
                  <c:v>38</c:v>
                </c:pt>
                <c:pt idx="14">
                  <c:v>45</c:v>
                </c:pt>
                <c:pt idx="15">
                  <c:v>53</c:v>
                </c:pt>
                <c:pt idx="16">
                  <c:v>53</c:v>
                </c:pt>
                <c:pt idx="17">
                  <c:v>59</c:v>
                </c:pt>
                <c:pt idx="18">
                  <c:v>60</c:v>
                </c:pt>
                <c:pt idx="19">
                  <c:v>55</c:v>
                </c:pt>
                <c:pt idx="20">
                  <c:v>44</c:v>
                </c:pt>
                <c:pt idx="21">
                  <c:v>38</c:v>
                </c:pt>
                <c:pt idx="22">
                  <c:v>39</c:v>
                </c:pt>
                <c:pt idx="23">
                  <c:v>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Bird pickups per hour</c:v>
                </c:pt>
              </c:strCache>
            </c:strRef>
          </c:tx>
          <c:spPr>
            <a:solidFill>
              <a:srgbClr val="0D366B"/>
            </a:solidFill>
            <a:ln w="38100" cap="flat">
              <a:solidFill>
                <a:srgbClr val="0D366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D366B"/>
              </a:solidFill>
              <a:ln w="9525" cap="flat">
                <a:solidFill>
                  <a:srgbClr val="0D36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1.2</c:v>
                </c:pt>
                <c:pt idx="6">
                  <c:v>14.4</c:v>
                </c:pt>
                <c:pt idx="7">
                  <c:v>28.5</c:v>
                </c:pt>
                <c:pt idx="8">
                  <c:v>39.3</c:v>
                </c:pt>
                <c:pt idx="9">
                  <c:v>37.6</c:v>
                </c:pt>
                <c:pt idx="10">
                  <c:v>31.9</c:v>
                </c:pt>
                <c:pt idx="11">
                  <c:v>34.3</c:v>
                </c:pt>
                <c:pt idx="12">
                  <c:v>27.3</c:v>
                </c:pt>
                <c:pt idx="13">
                  <c:v>19.6</c:v>
                </c:pt>
                <c:pt idx="14">
                  <c:v>6.4</c:v>
                </c:pt>
                <c:pt idx="15">
                  <c:v>2.4</c:v>
                </c:pt>
                <c:pt idx="16">
                  <c:v>0.5</c:v>
                </c:pt>
                <c:pt idx="17">
                  <c:v>0.5</c:v>
                </c:pt>
                <c:pt idx="18">
                  <c:v>1.6</c:v>
                </c:pt>
                <c:pt idx="19">
                  <c:v>1.9</c:v>
                </c:pt>
                <c:pt idx="20">
                  <c:v>1</c:v>
                </c:pt>
                <c:pt idx="21">
                  <c:v>0.3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Hi, I am Artem. This is Cascais Sweep — a tool that helps the city find abandoned scooters and plan how to collect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Cascais, a scooter left more than 30 metres from a station for over 2 hours is abandoned, and the municipality has to collect it. We analysed three weeks of Bird data: 44 new abandoned vehicles every day, and the typical one stays on the street for another 13 and a half hours. Today the city team makes one 2-hour run and collects about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scooters block pavements and bus stops — a real problem for wheelchair users and parents with prams. The city team has one van and no tool to decide what to collect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found why they stay so long: 94% of Bird pickups happen before 2 pm, but riders peak in the evening, so anything left in the afternoon waits until the next morning. In 109 cases a Bird technician was right there, serviced the scooter, and left it. And new stations will not fix it: even the 8 best sites would cover under 15% of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steps: detect, prioritise, route. Then switch to the live website for the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Thursday 15:00 in history mode — priorities, one run on real streets. Switch Runs to many. Switch to Live: Bird feed right now, refreshed every minute. Demand tab: imbalance per hexagon. If the internet fails, show this screenshot.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simulated three weeks: the time scooters stay abandoned drops by 59%. One van collects 30 a day instead of 10 and drives 30% fewer kilometres than in first-come order. Fines go from 45 to about 138 euros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uses only GBFS, the open standard, so it works for any operator and any city. Next: a pilot with Cascais Próxima, and they already gave us their bus data to find where people need buses that do not exist yet.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6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 THE CITY 2026 · CHALLENGE #9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Cascais Sweep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abandoned scooters.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van.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streets.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062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Artem Tkachev · NOVA IMS</a:t>
            </a:r>
            <a:endParaRPr lang="en-US" sz="1200" dirty="0"/>
          </a:p>
        </p:txBody>
      </p:sp>
      <p:pic>
        <p:nvPicPr>
          <p:cNvPr id="6" name="Image 0" descr="map_ru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868680"/>
            <a:ext cx="3840480" cy="2443942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pic>
      <p:sp>
        <p:nvSpPr>
          <p:cNvPr id="7" name="Text 4"/>
          <p:cNvSpPr txBox="1"/>
          <p:nvPr/>
        </p:nvSpPr>
        <p:spPr>
          <a:xfrm>
            <a:off x="4846320" y="34290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runs planned on real streets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scooter left &gt; 30 m from a station for &gt; 2 h must be collected by the municipality. 3 weeks of Bird data: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468880" cy="2286000"/>
          </a:xfrm>
          <a:prstGeom prst="roundRect">
            <a:avLst>
              <a:gd name="adj" fmla="val 48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71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abandoned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every day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737360"/>
            <a:ext cx="2468880" cy="2286000"/>
          </a:xfrm>
          <a:prstGeom prst="roundRect">
            <a:avLst>
              <a:gd name="adj" fmla="val 48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19659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13.6 h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971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time on the street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 h limit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35040" y="1737360"/>
            <a:ext cx="2468880" cy="2286000"/>
          </a:xfrm>
          <a:prstGeom prst="roundRect">
            <a:avLst>
              <a:gd name="adj" fmla="val 48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9659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3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run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971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~2 h a day today,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vehicles collected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16,888 trips · 1,388 vehicles · 157 stations · 920 abandonment cases · 24,791 vehicle-hours abandoned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affected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685800" cy="685800"/>
          </a:xfrm>
          <a:prstGeom prst="ellipse">
            <a:avLst/>
          </a:prstGeom>
          <a:solidFill>
            <a:srgbClr val="0D366B"/>
          </a:solidFill>
          <a:ln w="12700">
            <a:solidFill>
              <a:srgbClr val="0D366B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405890"/>
            <a:ext cx="342900" cy="3429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63040" y="12344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58191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cases blocked a bus stop (within 20 m) for 657 hours in total — wheelchairs, prams, visually impaired people.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240280"/>
            <a:ext cx="685800" cy="685800"/>
          </a:xfrm>
          <a:prstGeom prst="ellipse">
            <a:avLst/>
          </a:prstGeom>
          <a:solidFill>
            <a:srgbClr val="0D366B"/>
          </a:solidFill>
          <a:ln w="12700">
            <a:solidFill>
              <a:srgbClr val="0D366B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241173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2402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Cascais Próxima team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463040" y="258775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van, 18 places, no tool: which vehicles matter most, and in which order to drive?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3246120"/>
            <a:ext cx="685800" cy="685800"/>
          </a:xfrm>
          <a:prstGeom prst="ellipse">
            <a:avLst/>
          </a:prstGeom>
          <a:solidFill>
            <a:srgbClr val="0D366B"/>
          </a:solidFill>
          <a:ln w="12700">
            <a:solidFill>
              <a:srgbClr val="0D366B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3417570"/>
            <a:ext cx="342900" cy="342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32461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and the operator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463040" y="359359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collected vehicle is a €4.5 fine for Bird — a reason for the operator to clear its own fleet.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designed with João Silva, Cascais Próxima: depot, van capacity, today's workflow, the fine.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they stay so long</a:t>
            </a:r>
            <a:endParaRPr lang="en-US" sz="3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365760" y="1051560"/>
          <a:ext cx="51206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760720" y="10972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3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15544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Bird pickups happen 06:00–14:00. Riders peak in the evening, so vehicles left after lunch wait until morning.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760720" y="21945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6517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 Bird technician serviced an abandoned vehicle on the spot and left it there: 6,652 more hours.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6–14%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3749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cases would disappear even with the 8 best new stations. Abandonment is everywhere: collect, don't build.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→ Prioritise → Route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468880" cy="3017520"/>
          </a:xfrm>
          <a:prstGeom prst="roundRect">
            <a:avLst>
              <a:gd name="adj" fmla="val 4444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640080" cy="640080"/>
          </a:xfrm>
          <a:prstGeom prst="ellipse">
            <a:avLst/>
          </a:prstGeom>
          <a:solidFill>
            <a:srgbClr val="0D366B"/>
          </a:solidFill>
          <a:ln w="12700">
            <a:solidFill>
              <a:srgbClr val="0D366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6230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40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Detect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3 weeks of Bird events.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Bird's public GBFS feed, every minute. Vehicles matched between snapshots by position.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3035808" y="25146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3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3291840" y="1234440"/>
            <a:ext cx="2468880" cy="3017520"/>
          </a:xfrm>
          <a:prstGeom prst="roundRect">
            <a:avLst>
              <a:gd name="adj" fmla="val 4444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66160" y="1463040"/>
            <a:ext cx="640080" cy="640080"/>
          </a:xfrm>
          <a:prstGeom prst="ellipse">
            <a:avLst/>
          </a:prstGeom>
          <a:solidFill>
            <a:srgbClr val="0D366B"/>
          </a:solidFill>
          <a:ln w="12700">
            <a:solidFill>
              <a:srgbClr val="0D36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6230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566160" y="2240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Prioritise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3566160" y="269748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abandoned, distance from a station, blocking a bus stop, and a model: will a rider take it anyway? Weights are sliders.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779008" y="251460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3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6035040" y="1234440"/>
            <a:ext cx="2468880" cy="3017520"/>
          </a:xfrm>
          <a:prstGeom prst="roundRect">
            <a:avLst>
              <a:gd name="adj" fmla="val 4444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309360" y="1463040"/>
            <a:ext cx="640080" cy="640080"/>
          </a:xfrm>
          <a:prstGeom prst="ellipse">
            <a:avLst/>
          </a:prstGeom>
          <a:solidFill>
            <a:srgbClr val="0D366B"/>
          </a:solidFill>
          <a:ln w="12700">
            <a:solidFill>
              <a:srgbClr val="0D366B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9380" y="162306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309360" y="22402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Route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6309360" y="269748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vehicles worth most per minute of detour, within 18 places and the time available. Order and path on real streets (OSRM).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 only: Python, Leaflet, OpenStreetMap, OSRM. No API keys.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36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754880" y="4114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github.com/Artem-Tkachev/cascais-sweep</a:t>
            </a:r>
            <a:endParaRPr lang="en-US" sz="1200" dirty="0"/>
          </a:p>
        </p:txBody>
      </p:sp>
      <p:pic>
        <p:nvPicPr>
          <p:cNvPr id="4" name="Image 0" descr="live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960120"/>
            <a:ext cx="8046720" cy="381271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on 3 weeks of real data: one van, weekdays 09:00–18:00, 18 vehicles per run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3840480" cy="1280160"/>
          </a:xfrm>
          <a:prstGeom prst="roundRect">
            <a:avLst>
              <a:gd name="adj" fmla="val 857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3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−59%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16459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vehicle-hours abandoned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24,791 → 10,246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3840480" cy="1280160"/>
          </a:xfrm>
          <a:prstGeom prst="roundRect">
            <a:avLst>
              <a:gd name="adj" fmla="val 857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37760" y="16459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3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30.7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720840" y="164592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a day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 ~10 today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926080"/>
            <a:ext cx="3840480" cy="1280160"/>
          </a:xfrm>
          <a:prstGeom prst="roundRect">
            <a:avLst>
              <a:gd name="adj" fmla="val 857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1089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D3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−30%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31089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 driven vs first-come order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vs 134 km a day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926080"/>
            <a:ext cx="3840480" cy="1280160"/>
          </a:xfrm>
          <a:prstGeom prst="roundRect">
            <a:avLst>
              <a:gd name="adj" fmla="val 857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37760" y="310896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+€2,000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0896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fines a month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€45 → €138 a day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2-hour run as today: 12.7 vehicles instead of ~10. Vehicles at bus stops collected first.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36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230" y="1383030"/>
            <a:ext cx="297180" cy="2971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operator, any city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8191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only on GBFS, the open standard of shared mobility.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663440" y="123444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30" y="138303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40680" y="12344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with Cascais Próxima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440680" y="158191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feed on a small server; store events instead of snapshots.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48640" y="274320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30" y="2891790"/>
            <a:ext cx="297180" cy="2971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743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multi-run plans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9067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VRP solver (VROOM on OSRM) to balance vehicles between runs.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663440" y="274320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2030" y="2891790"/>
            <a:ext cx="297180" cy="2971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40680" y="27432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are buses missing?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5440680" y="3090672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Scooter trips from bus stops show where and when people need new bus links. Cascais Próxima already shared its stops and routes data.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· github.com/Artem-Tkachev/cascais-sweep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Cascais Sweep</dc:title>
  <dc:subject>PptxGenJS Presentation</dc:subject>
  <dc:creator>PptxGenJS</dc:creator>
  <cp:lastModifiedBy>PptxGenJS</cp:lastModifiedBy>
  <cp:revision>1</cp:revision>
  <dcterms:created xsi:type="dcterms:W3CDTF">2026-09-25T03:50:44Z</dcterms:created>
  <dcterms:modified xsi:type="dcterms:W3CDTF">2026-09-25T03:50:44Z</dcterms:modified>
</cp:coreProperties>
</file>