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52514E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52514E"/>
                </a:solidFill>
                <a:latin typeface="Calibri"/>
              </a:rPr>
              <a:t>Average per day, by hour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Trips per hour (riders)</c:v>
                </c:pt>
              </c:strCache>
            </c:strRef>
          </c:tx>
          <c:spPr>
            <a:solidFill>
              <a:srgbClr val="EB6834"/>
            </a:solidFill>
            <a:ln w="38100" cap="flat">
              <a:solidFill>
                <a:srgbClr val="EB683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B6834"/>
              </a:solidFill>
              <a:ln w="9525" cap="flat">
                <a:solidFill>
                  <a:srgbClr val="EB683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Sheet1!$A$2:$A$25</c:f>
              <c:multiLvlStrCache>
                <c:ptCount val="24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  <c:pt idx="21">
                    <c:v>21</c:v>
                  </c:pt>
                  <c:pt idx="22">
                    <c:v>22</c:v>
                  </c:pt>
                  <c:pt idx="23">
                    <c:v>23</c:v>
                  </c:pt>
                </c:lvl>
              </c:multiLvlStrCache>
            </c:multiLvl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24</c:v>
                </c:pt>
                <c:pt idx="1">
                  <c:v>27</c:v>
                </c:pt>
                <c:pt idx="2">
                  <c:v>16</c:v>
                </c:pt>
                <c:pt idx="3">
                  <c:v>10</c:v>
                </c:pt>
                <c:pt idx="4">
                  <c:v>4</c:v>
                </c:pt>
                <c:pt idx="5">
                  <c:v>3</c:v>
                </c:pt>
                <c:pt idx="6">
                  <c:v>4</c:v>
                </c:pt>
                <c:pt idx="7">
                  <c:v>10</c:v>
                </c:pt>
                <c:pt idx="8">
                  <c:v>9</c:v>
                </c:pt>
                <c:pt idx="9">
                  <c:v>14</c:v>
                </c:pt>
                <c:pt idx="10">
                  <c:v>15</c:v>
                </c:pt>
                <c:pt idx="11">
                  <c:v>25</c:v>
                </c:pt>
                <c:pt idx="12">
                  <c:v>34</c:v>
                </c:pt>
                <c:pt idx="13">
                  <c:v>38</c:v>
                </c:pt>
                <c:pt idx="14">
                  <c:v>45</c:v>
                </c:pt>
                <c:pt idx="15">
                  <c:v>53</c:v>
                </c:pt>
                <c:pt idx="16">
                  <c:v>53</c:v>
                </c:pt>
                <c:pt idx="17">
                  <c:v>59</c:v>
                </c:pt>
                <c:pt idx="18">
                  <c:v>60</c:v>
                </c:pt>
                <c:pt idx="19">
                  <c:v>55</c:v>
                </c:pt>
                <c:pt idx="20">
                  <c:v>44</c:v>
                </c:pt>
                <c:pt idx="21">
                  <c:v>38</c:v>
                </c:pt>
                <c:pt idx="22">
                  <c:v>39</c:v>
                </c:pt>
                <c:pt idx="23">
                  <c:v>29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Bird pickups per hour</c:v>
                </c:pt>
              </c:strCache>
            </c:strRef>
          </c:tx>
          <c:spPr>
            <a:solidFill>
              <a:srgbClr val="0D366B"/>
            </a:solidFill>
            <a:ln w="38100" cap="flat">
              <a:solidFill>
                <a:srgbClr val="0D366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D366B"/>
              </a:solidFill>
              <a:ln w="9525" cap="flat">
                <a:solidFill>
                  <a:srgbClr val="0D366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Sheet1!$A$2:$A$25</c:f>
              <c:multiLvlStrCache>
                <c:ptCount val="24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  <c:pt idx="21">
                    <c:v>21</c:v>
                  </c:pt>
                  <c:pt idx="22">
                    <c:v>22</c:v>
                  </c:pt>
                  <c:pt idx="23">
                    <c:v>23</c:v>
                  </c:pt>
                </c:lvl>
              </c:multiLvlStrCache>
            </c:multiLvlStrRef>
          </c:cat>
          <c:val>
            <c:numRef>
              <c:f>Sheet1!$C$2:$C$25</c:f>
              <c:numCache>
                <c:formatCode>General</c:formatCode>
                <c:ptCount val="2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1.2</c:v>
                </c:pt>
                <c:pt idx="6">
                  <c:v>14.4</c:v>
                </c:pt>
                <c:pt idx="7">
                  <c:v>28.5</c:v>
                </c:pt>
                <c:pt idx="8">
                  <c:v>39.3</c:v>
                </c:pt>
                <c:pt idx="9">
                  <c:v>37.6</c:v>
                </c:pt>
                <c:pt idx="10">
                  <c:v>31.9</c:v>
                </c:pt>
                <c:pt idx="11">
                  <c:v>34.3</c:v>
                </c:pt>
                <c:pt idx="12">
                  <c:v>27.3</c:v>
                </c:pt>
                <c:pt idx="13">
                  <c:v>19.6</c:v>
                </c:pt>
                <c:pt idx="14">
                  <c:v>6.4</c:v>
                </c:pt>
                <c:pt idx="15">
                  <c:v>2.4</c:v>
                </c:pt>
                <c:pt idx="16">
                  <c:v>0.5</c:v>
                </c:pt>
                <c:pt idx="17">
                  <c:v>0.5</c:v>
                </c:pt>
                <c:pt idx="18">
                  <c:v>1.6</c:v>
                </c:pt>
                <c:pt idx="19">
                  <c:v>1.9</c:v>
                </c:pt>
                <c:pt idx="20">
                  <c:v>1</c:v>
                </c:pt>
                <c:pt idx="21">
                  <c:v>0.3</c:v>
                </c:pt>
                <c:pt idx="22">
                  <c:v>0</c:v>
                </c:pt>
                <c:pt idx="23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2514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6E5E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2514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Hi, I am Artem. This is Cascais Sweep — a tool that helps the city find abandoned scooters and plan how to collect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Cascais, a scooter left more than 30 metres from a station for over 2 hours is abandoned, and the municipality has to collect it. We analysed three weeks of Bird data: 44 new abandoned vehicles every day, and the typical one stays on the street for another 13 and a half hours. In our data period the city team made one 2-hour run a day and collected about 10.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scooters block pavements and bus stops — a real problem for wheelchair users and parents with prams. The city team has one van and no tool to decide what to collect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found why they stay so long: 94% of Bird pickups happen before 2 pm, but riders peak in the evening, so anything left in the afternoon waits until the next morning. In 109 cases a Bird technician was right there, serviced the scooter, and left it. And new stations will not fix it: even the 8 best sites would cover under 15% of cases.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steps: detect, prioritise, route. Then switch to the live website for the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Demo: Thursday 15:00 in history mode — priorities, one run on real streets. Switch Runs to many. Switch to Live: Bird feed right now, refreshed every minute. Demand tab: imbalance per hexagon. If the internet fails, show this screenshot.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simulated three weeks: the time scooters stay abandoned drops by 59%. One van collects 30 a day instead of 10 and drives 30% fewer kilometres than in first-come order. Fines go from 45 to about 138 euros a 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 uses only GBFS, the open standard, so it works for any operator and any city. Next: a pilot with Cascais Próxima, and they already gave us their bus data to find where people need buses that do not exist yet. Thank you.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36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 THE CITY 2026 · CHALLENGE #9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Cascais Sweep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03120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abandoned scooters.</a:t>
            </a:r>
            <a:endParaRPr lang="en-US" sz="2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the van.</a:t>
            </a:r>
            <a:endParaRPr lang="en-US" sz="2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the streets.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2062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Artem Tkachev · NOVA IMS</a:t>
            </a:r>
            <a:endParaRPr lang="en-US" sz="1200" dirty="0"/>
          </a:p>
        </p:txBody>
      </p:sp>
      <p:pic>
        <p:nvPicPr>
          <p:cNvPr id="6" name="Image 0" descr="map_ru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868680"/>
            <a:ext cx="3840480" cy="2443942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pic>
      <p:sp>
        <p:nvSpPr>
          <p:cNvPr id="7" name="Text 4"/>
          <p:cNvSpPr txBox="1"/>
          <p:nvPr/>
        </p:nvSpPr>
        <p:spPr>
          <a:xfrm>
            <a:off x="4846320" y="34290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runs planned on real streets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Bird (private operator) must keep its scooters at stations. If one stays &gt; 30 m outside for &gt; 2 h, Cascais Próxima (the city) removes it and Bird pays a €4.5 fine. 3 weeks of Bird data: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468880" cy="2240280"/>
          </a:xfrm>
          <a:prstGeom prst="roundRect">
            <a:avLst>
              <a:gd name="adj" fmla="val 4898"/>
            </a:avLst>
          </a:prstGeom>
          <a:solidFill>
            <a:srgbClr val="F3F2EF"/>
          </a:solidFill>
          <a:ln w="12700">
            <a:solidFill>
              <a:srgbClr val="F3F2E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01168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34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9718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abandoned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vehicles every day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91840" y="1783080"/>
            <a:ext cx="2468880" cy="2240280"/>
          </a:xfrm>
          <a:prstGeom prst="roundRect">
            <a:avLst>
              <a:gd name="adj" fmla="val 4898"/>
            </a:avLst>
          </a:prstGeom>
          <a:solidFill>
            <a:srgbClr val="F3F2EF"/>
          </a:solidFill>
          <a:ln w="12700">
            <a:solidFill>
              <a:srgbClr val="F3F2E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20440" y="201168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13.6 h</a:t>
            </a:r>
            <a:endParaRPr lang="en-US" sz="5400" dirty="0"/>
          </a:p>
        </p:txBody>
      </p:sp>
      <p:sp>
        <p:nvSpPr>
          <p:cNvPr id="9" name="Text 7"/>
          <p:cNvSpPr txBox="1"/>
          <p:nvPr/>
        </p:nvSpPr>
        <p:spPr>
          <a:xfrm>
            <a:off x="3520440" y="29718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time on the street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2 h limit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035040" y="1783080"/>
            <a:ext cx="2468880" cy="2240280"/>
          </a:xfrm>
          <a:prstGeom prst="roundRect">
            <a:avLst>
              <a:gd name="adj" fmla="val 4898"/>
            </a:avLst>
          </a:prstGeom>
          <a:solidFill>
            <a:srgbClr val="F3F2EF"/>
          </a:solidFill>
          <a:ln w="12700">
            <a:solidFill>
              <a:srgbClr val="F3F2E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63640" y="201168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D3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</a:t>
            </a:r>
            <a:endParaRPr lang="en-US" sz="5400" dirty="0"/>
          </a:p>
        </p:txBody>
      </p:sp>
      <p:sp>
        <p:nvSpPr>
          <p:cNvPr id="12" name="Text 10"/>
          <p:cNvSpPr txBox="1"/>
          <p:nvPr/>
        </p:nvSpPr>
        <p:spPr>
          <a:xfrm>
            <a:off x="6263640" y="29718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collected by the city per day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our data period (one run)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3434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16,888 trips · 1,388 vehicles · 157 stations · 920 abandonment cases · 24,791 vehicle-hours abandoned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affected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685800" cy="685800"/>
          </a:xfrm>
          <a:prstGeom prst="ellipse">
            <a:avLst/>
          </a:prstGeom>
          <a:solidFill>
            <a:srgbClr val="0D366B"/>
          </a:solidFill>
          <a:ln w="12700">
            <a:solidFill>
              <a:srgbClr val="0D366B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090" y="1405890"/>
            <a:ext cx="342900" cy="3429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463040" y="123444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Pedestrians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1463040" y="1581912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cases blocked a bus stop (within 20 m) for 657 hours in total — wheelchairs, prams, visually impaired people.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2240280"/>
            <a:ext cx="685800" cy="685800"/>
          </a:xfrm>
          <a:prstGeom prst="ellipse">
            <a:avLst/>
          </a:prstGeom>
          <a:solidFill>
            <a:srgbClr val="0D366B"/>
          </a:solidFill>
          <a:ln w="12700">
            <a:solidFill>
              <a:srgbClr val="0D366B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90" y="2411730"/>
            <a:ext cx="342900" cy="3429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463040" y="224028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Cascais Próxima team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1463040" y="2587752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van, 18 places, no tool: which vehicles matter most, and in which order to drive?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548640" y="3246120"/>
            <a:ext cx="685800" cy="685800"/>
          </a:xfrm>
          <a:prstGeom prst="ellipse">
            <a:avLst/>
          </a:prstGeom>
          <a:solidFill>
            <a:srgbClr val="0D366B"/>
          </a:solidFill>
          <a:ln w="12700">
            <a:solidFill>
              <a:srgbClr val="0D366B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90" y="3417570"/>
            <a:ext cx="342900" cy="34290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463040" y="324612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city vs the operator</a:t>
            </a:r>
            <a:endParaRPr lang="en-US" sz="1800" dirty="0"/>
          </a:p>
        </p:txBody>
      </p:sp>
      <p:sp>
        <p:nvSpPr>
          <p:cNvPr id="14" name="Text 9"/>
          <p:cNvSpPr txBox="1"/>
          <p:nvPr/>
        </p:nvSpPr>
        <p:spPr>
          <a:xfrm>
            <a:off x="1463040" y="3593592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different organisations: Bird earns from rides, the city keeps the streets clear. Every scooter the city removes costs Bird €4.5.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548640" y="44348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designed with João Silva, Cascais Próxima: depot, van capacity, how the team works, the fine.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they stay so long</a:t>
            </a:r>
            <a:endParaRPr lang="en-US" sz="3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051560"/>
          <a:ext cx="512064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760720" y="10972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3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94%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760720" y="155448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Bird pickups happen 06:00–14:00. Riders peak in the evening, so vehicles left after lunch wait until morning.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760720" y="21945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34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109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5760720" y="265176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 a Bird technician serviced an abandoned vehicle on the spot and left it there: 6,652 more hours.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5760720" y="32918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6–14%</a:t>
            </a:r>
            <a:endParaRPr lang="en-US" sz="2800" dirty="0"/>
          </a:p>
        </p:txBody>
      </p:sp>
      <p:sp>
        <p:nvSpPr>
          <p:cNvPr id="9" name="Text 6"/>
          <p:cNvSpPr txBox="1"/>
          <p:nvPr/>
        </p:nvSpPr>
        <p:spPr>
          <a:xfrm>
            <a:off x="5760720" y="374904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cases would disappear even with the 8 best new stations. Abandonment is everywhere: collect, don't build.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→ Prioritise → Route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2468880" cy="3017520"/>
          </a:xfrm>
          <a:prstGeom prst="roundRect">
            <a:avLst>
              <a:gd name="adj" fmla="val 4444"/>
            </a:avLst>
          </a:prstGeom>
          <a:solidFill>
            <a:srgbClr val="F3F2EF"/>
          </a:solidFill>
          <a:ln w="12700">
            <a:solidFill>
              <a:srgbClr val="F3F2E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463040"/>
            <a:ext cx="640080" cy="640080"/>
          </a:xfrm>
          <a:prstGeom prst="ellipse">
            <a:avLst/>
          </a:prstGeom>
          <a:solidFill>
            <a:srgbClr val="0D366B"/>
          </a:solidFill>
          <a:ln w="12700">
            <a:solidFill>
              <a:srgbClr val="0D366B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162306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2402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Detect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697480"/>
            <a:ext cx="2011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History: 3 weeks of Bird events.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Live: Bird's public GBFS feed, every minute. Vehicles matched between snapshots by position.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3035808" y="2514600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3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3291840" y="1234440"/>
            <a:ext cx="2468880" cy="3017520"/>
          </a:xfrm>
          <a:prstGeom prst="roundRect">
            <a:avLst>
              <a:gd name="adj" fmla="val 4444"/>
            </a:avLst>
          </a:prstGeom>
          <a:solidFill>
            <a:srgbClr val="F3F2EF"/>
          </a:solidFill>
          <a:ln w="12700">
            <a:solidFill>
              <a:srgbClr val="F3F2E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566160" y="1463040"/>
            <a:ext cx="640080" cy="640080"/>
          </a:xfrm>
          <a:prstGeom prst="ellipse">
            <a:avLst/>
          </a:prstGeom>
          <a:solidFill>
            <a:srgbClr val="0D366B"/>
          </a:solidFill>
          <a:ln w="12700">
            <a:solidFill>
              <a:srgbClr val="0D366B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6180" y="162306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66160" y="22402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Prioritise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3566160" y="2697480"/>
            <a:ext cx="2011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abandoned, distance from a station, blocking a bus stop, and a model: will a rider take it anyway? Weights are sliders.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5779008" y="2514600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3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1"/>
          <p:cNvSpPr/>
          <p:nvPr/>
        </p:nvSpPr>
        <p:spPr>
          <a:xfrm>
            <a:off x="6035040" y="1234440"/>
            <a:ext cx="2468880" cy="3017520"/>
          </a:xfrm>
          <a:prstGeom prst="roundRect">
            <a:avLst>
              <a:gd name="adj" fmla="val 4444"/>
            </a:avLst>
          </a:prstGeom>
          <a:solidFill>
            <a:srgbClr val="F3F2EF"/>
          </a:solidFill>
          <a:ln w="12700">
            <a:solidFill>
              <a:srgbClr val="F3F2EF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309360" y="1463040"/>
            <a:ext cx="640080" cy="640080"/>
          </a:xfrm>
          <a:prstGeom prst="ellipse">
            <a:avLst/>
          </a:prstGeom>
          <a:solidFill>
            <a:srgbClr val="0D366B"/>
          </a:solidFill>
          <a:ln w="12700">
            <a:solidFill>
              <a:srgbClr val="0D366B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9380" y="1623060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309360" y="22402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Route</a:t>
            </a:r>
            <a:endParaRPr lang="en-US" sz="2000" dirty="0"/>
          </a:p>
        </p:txBody>
      </p:sp>
      <p:sp>
        <p:nvSpPr>
          <p:cNvPr id="19" name="Text 14"/>
          <p:cNvSpPr txBox="1"/>
          <p:nvPr/>
        </p:nvSpPr>
        <p:spPr>
          <a:xfrm>
            <a:off x="6309360" y="2697480"/>
            <a:ext cx="2011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vehicles worth most per minute of detour, within 18 places and the time available. Order and path on real streets (OSRM).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548640" y="44348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 only: Python, Leaflet, OpenStreetMap, OSRM. No API keys.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36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754880" y="4114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github.com/Artem-Tkachev/cascais-sweep</a:t>
            </a:r>
            <a:endParaRPr lang="en-US" sz="1200" dirty="0"/>
          </a:p>
        </p:txBody>
      </p:sp>
      <p:pic>
        <p:nvPicPr>
          <p:cNvPr id="4" name="Image 0" descr="live_fu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960120"/>
            <a:ext cx="8046720" cy="381271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on 3 weeks of real data: one van, weekdays 09:00–18:00, 18 vehicles per run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840480" cy="1280160"/>
          </a:xfrm>
          <a:prstGeom prst="roundRect">
            <a:avLst>
              <a:gd name="adj" fmla="val 8571"/>
            </a:avLst>
          </a:prstGeom>
          <a:solidFill>
            <a:srgbClr val="F3F2EF"/>
          </a:solidFill>
          <a:ln w="12700">
            <a:solidFill>
              <a:srgbClr val="F3F2E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4592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D3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−59%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2606040" y="164592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vehicle-hours abandoned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24,791 → 10,246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1463040"/>
            <a:ext cx="3840480" cy="1280160"/>
          </a:xfrm>
          <a:prstGeom prst="roundRect">
            <a:avLst>
              <a:gd name="adj" fmla="val 8571"/>
            </a:avLst>
          </a:prstGeom>
          <a:solidFill>
            <a:srgbClr val="F3F2EF"/>
          </a:solidFill>
          <a:ln w="12700">
            <a:solidFill>
              <a:srgbClr val="F3F2E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937760" y="164592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D3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30.7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6720840" y="164592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vehicles a day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~10 in our data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926080"/>
            <a:ext cx="3840480" cy="1280160"/>
          </a:xfrm>
          <a:prstGeom prst="roundRect">
            <a:avLst>
              <a:gd name="adj" fmla="val 8571"/>
            </a:avLst>
          </a:prstGeom>
          <a:solidFill>
            <a:srgbClr val="F3F2EF"/>
          </a:solidFill>
          <a:ln w="12700">
            <a:solidFill>
              <a:srgbClr val="F3F2E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310896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D3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−30%</a:t>
            </a:r>
            <a:endParaRPr lang="en-US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2606040" y="310896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 driven vs first-come order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 vs 134 km a day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2926080"/>
            <a:ext cx="3840480" cy="1280160"/>
          </a:xfrm>
          <a:prstGeom prst="roundRect">
            <a:avLst>
              <a:gd name="adj" fmla="val 8571"/>
            </a:avLst>
          </a:prstGeom>
          <a:solidFill>
            <a:srgbClr val="F3F2EF"/>
          </a:solidFill>
          <a:ln w="12700">
            <a:solidFill>
              <a:srgbClr val="F3F2E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937760" y="310896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34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+€2,000</a:t>
            </a:r>
            <a:endParaRPr lang="en-US" sz="3600" dirty="0"/>
          </a:p>
        </p:txBody>
      </p:sp>
      <p:sp>
        <p:nvSpPr>
          <p:cNvPr id="15" name="Text 13"/>
          <p:cNvSpPr txBox="1"/>
          <p:nvPr/>
        </p:nvSpPr>
        <p:spPr>
          <a:xfrm>
            <a:off x="6720840" y="310896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fines a month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€45 → €138 a day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5262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one 2-hour run: 12.7 vehicles instead of ~10. Vehicles at bus stops collected first.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36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94360" cy="5943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7230" y="1383030"/>
            <a:ext cx="297180" cy="2971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25880" y="12344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operator, any city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325880" y="1581912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only on GBFS, the open standard of shared mobility.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663440" y="1234440"/>
            <a:ext cx="594360" cy="5943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2030" y="1383030"/>
            <a:ext cx="297180" cy="29718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440680" y="12344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with Cascais Próxima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5440680" y="1581912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feed on a small server; store events instead of snapshots.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548640" y="2743200"/>
            <a:ext cx="594360" cy="5943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230" y="2891790"/>
            <a:ext cx="297180" cy="29718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25880" y="27432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Smarter multi-run plans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1325880" y="3090672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VRP solver (VROOM on OSRM) to balance vehicles between runs.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4663440" y="2743200"/>
            <a:ext cx="594360" cy="5943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2030" y="2891790"/>
            <a:ext cx="297180" cy="29718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5440680" y="27432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are buses missing?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5440680" y="3090672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Scooter trips from bus stops show where and when people need new bus links. Cascais Próxima already shared its stops and routes data.</a:t>
            </a:r>
            <a:endParaRPr lang="en-US" sz="1200" dirty="0"/>
          </a:p>
        </p:txBody>
      </p:sp>
      <p:sp>
        <p:nvSpPr>
          <p:cNvPr id="19" name="Text 13"/>
          <p:cNvSpPr txBox="1"/>
          <p:nvPr/>
        </p:nvSpPr>
        <p:spPr>
          <a:xfrm>
            <a:off x="548640" y="44348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· github.com/Artem-Tkachev/cascais-sweep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Cascais Sweep</dc:title>
  <dc:subject>PptxGenJS Presentation</dc:subject>
  <dc:creator>PptxGenJS</dc:creator>
  <cp:lastModifiedBy>PptxGenJS</cp:lastModifiedBy>
  <cp:revision>1</cp:revision>
  <dcterms:created xsi:type="dcterms:W3CDTF">2026-09-25T06:49:32Z</dcterms:created>
  <dcterms:modified xsi:type="dcterms:W3CDTF">2026-09-25T06:49:32Z</dcterms:modified>
</cp:coreProperties>
</file>